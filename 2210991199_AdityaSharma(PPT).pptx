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544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000000"/>
                </a:solidFill>
                <a:latin typeface="Arial"/>
              </a:rPr>
              <a:t>Bundle Size (KB)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Bundle Size (KB)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8C-44AC-8694-B378D8A6D361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8C-44AC-8694-B378D8A6D361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8C-44AC-8694-B378D8A6D3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React</c:v>
                </c:pt>
                <c:pt idx="1">
                  <c:v>Preact</c:v>
                </c:pt>
                <c:pt idx="2">
                  <c:v>Svelte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45</c:v>
                </c:pt>
                <c:pt idx="2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58C-44AC-8694-B378D8A6D3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Largest Contentful Paint / LCP (s)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LCP (s)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00-4BFC-B0A0-6C28FC425CB8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00-4BFC-B0A0-6C28FC425CB8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00-4BFC-B0A0-6C28FC425CB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React</c:v>
                </c:pt>
                <c:pt idx="1">
                  <c:v>Preact</c:v>
                </c:pt>
                <c:pt idx="2">
                  <c:v>Svelte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</c:v>
                </c:pt>
                <c:pt idx="1">
                  <c:v>2.1</c:v>
                </c:pt>
                <c:pt idx="2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00-4BFC-B0A0-6C28FC425C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Loading Metrics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TTI (s)</c:v>
                </c:pt>
                <c:pt idx="1">
                  <c:v>FCP (s)</c:v>
                </c:pt>
                <c:pt idx="2">
                  <c:v>Speed Index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</c:v>
                </c:pt>
                <c:pt idx="1">
                  <c:v>1.8</c:v>
                </c:pt>
                <c:pt idx="2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A0-46C2-8A75-2FFF2FA9BF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Preact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TTI (s)</c:v>
                </c:pt>
                <c:pt idx="1">
                  <c:v>FCP (s)</c:v>
                </c:pt>
                <c:pt idx="2">
                  <c:v>Speed Index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2.8</c:v>
                </c:pt>
                <c:pt idx="1">
                  <c:v>1.2</c:v>
                </c:pt>
                <c:pt idx="2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A0-46C2-8A75-2FFF2FA9BF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Svelte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TTI (s)</c:v>
                </c:pt>
                <c:pt idx="1">
                  <c:v>FCP (s)</c:v>
                </c:pt>
                <c:pt idx="2">
                  <c:v>Speed Index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2.4</c:v>
                </c:pt>
                <c:pt idx="1">
                  <c:v>1</c:v>
                </c:pt>
                <c:pt idx="2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A0-46C2-8A75-2FFF2FA9BF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Lighthouse Score (/100)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Lighthouse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66-4B20-9209-7DAE4220B535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66-4B20-9209-7DAE4220B535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66-4B20-9209-7DAE4220B5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React</c:v>
                </c:pt>
                <c:pt idx="1">
                  <c:v>Preact</c:v>
                </c:pt>
                <c:pt idx="2">
                  <c:v>Svelte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84</c:v>
                </c:pt>
                <c:pt idx="2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66-4B20-9209-7DAE4220B5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495424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Web Vitals Comparison: Lightweight JS Frameworks vs React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Aditya Sharma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2210991199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r>
              <a:rPr lang="en-IN" dirty="0"/>
              <a:t>                                        Dr. Shikha Tuteja, Associate Professor</a:t>
            </a:r>
          </a:p>
          <a:p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&amp; Engineering, 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performance is critical: 53% of mobile users abandon sites loading over 3 seconds (Google).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introduced Core Web Vitals in 2020 -- user-focused metrics, official Search ranking factor since 2021.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(Meta) dominates frontend development but adds ~130-140 KB runtime per application.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Preact (~3-4 KB) offers React-compatible API with far lower overhead.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Svelte compiles components to optimized vanilla JS at build time -- no virtual DOM runtime.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few empirical comparisons using Core Web Vitals as the benchmark basis.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study builds equivalent apps in React 18.2, Preact 10.19, and Svelte 4.2 and benchmarks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Web Vitals Metrics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2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LCP: time until the largest visible element loads. Measures perceived load speed.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FID/TBT: responsiveness to first user interaction. Measures interactivity.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CLS: visual stability -- sum of unexpected layout shifts during page load.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size and JavaScript parsing overhead directly drive these metrics.</a:t>
            </a:r>
          </a:p>
        </p:txBody>
      </p:sp>
      <p:sp>
        <p:nvSpPr>
          <p:cNvPr id="200" name="hdr_metric"/>
          <p:cNvSpPr/>
          <p:nvPr/>
        </p:nvSpPr>
        <p:spPr>
          <a:xfrm>
            <a:off x="274320" y="3200000"/>
            <a:ext cx="1828800" cy="4572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201" name="hdr_good"/>
          <p:cNvSpPr/>
          <p:nvPr/>
        </p:nvSpPr>
        <p:spPr>
          <a:xfrm>
            <a:off x="2103120" y="3200000"/>
            <a:ext cx="2346960" cy="4572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202" name="hdr_needs"/>
          <p:cNvSpPr/>
          <p:nvPr/>
        </p:nvSpPr>
        <p:spPr>
          <a:xfrm>
            <a:off x="4450080" y="3200000"/>
            <a:ext cx="2346960" cy="45720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Needs Improvement</a:t>
            </a:r>
          </a:p>
        </p:txBody>
      </p:sp>
      <p:sp>
        <p:nvSpPr>
          <p:cNvPr id="203" name="hdr_poor"/>
          <p:cNvSpPr/>
          <p:nvPr/>
        </p:nvSpPr>
        <p:spPr>
          <a:xfrm>
            <a:off x="6797040" y="3200000"/>
            <a:ext cx="2346960" cy="4572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Poor</a:t>
            </a:r>
          </a:p>
        </p:txBody>
      </p:sp>
      <p:sp>
        <p:nvSpPr>
          <p:cNvPr id="204" name="lcp_label"/>
          <p:cNvSpPr/>
          <p:nvPr/>
        </p:nvSpPr>
        <p:spPr>
          <a:xfrm>
            <a:off x="274320" y="3657200"/>
            <a:ext cx="1828800" cy="45720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Calibri"/>
              </a:rPr>
              <a:t>LCP</a:t>
            </a:r>
          </a:p>
        </p:txBody>
      </p:sp>
      <p:sp>
        <p:nvSpPr>
          <p:cNvPr id="205" name="lcp_good"/>
          <p:cNvSpPr/>
          <p:nvPr/>
        </p:nvSpPr>
        <p:spPr>
          <a:xfrm>
            <a:off x="2103120" y="3657200"/>
            <a:ext cx="2346960" cy="457200"/>
          </a:xfrm>
          <a:prstGeom prst="rect">
            <a:avLst/>
          </a:prstGeom>
          <a:solidFill>
            <a:srgbClr val="D5F5E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Calibri"/>
              </a:rPr>
              <a:t>below 2.5s</a:t>
            </a:r>
          </a:p>
        </p:txBody>
      </p:sp>
      <p:sp>
        <p:nvSpPr>
          <p:cNvPr id="206" name="lcp_needs"/>
          <p:cNvSpPr/>
          <p:nvPr/>
        </p:nvSpPr>
        <p:spPr>
          <a:xfrm>
            <a:off x="4450080" y="3657200"/>
            <a:ext cx="2346960" cy="457200"/>
          </a:xfrm>
          <a:prstGeom prst="rect">
            <a:avLst/>
          </a:prstGeom>
          <a:solidFill>
            <a:srgbClr val="FDEBD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784212"/>
                </a:solidFill>
                <a:latin typeface="Calibri"/>
              </a:rPr>
              <a:t>2.5s - 4.0s</a:t>
            </a:r>
          </a:p>
        </p:txBody>
      </p:sp>
      <p:sp>
        <p:nvSpPr>
          <p:cNvPr id="207" name="lcp_poor"/>
          <p:cNvSpPr/>
          <p:nvPr/>
        </p:nvSpPr>
        <p:spPr>
          <a:xfrm>
            <a:off x="6797040" y="3657200"/>
            <a:ext cx="2346960" cy="457200"/>
          </a:xfrm>
          <a:prstGeom prst="rect">
            <a:avLst/>
          </a:prstGeom>
          <a:solidFill>
            <a:srgbClr val="FADBD8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7B241C"/>
                </a:solidFill>
                <a:latin typeface="Calibri"/>
              </a:rPr>
              <a:t>above 4.0s</a:t>
            </a:r>
          </a:p>
        </p:txBody>
      </p:sp>
      <p:sp>
        <p:nvSpPr>
          <p:cNvPr id="208" name="fid_label"/>
          <p:cNvSpPr/>
          <p:nvPr/>
        </p:nvSpPr>
        <p:spPr>
          <a:xfrm>
            <a:off x="274320" y="4114400"/>
            <a:ext cx="1828800" cy="457200"/>
          </a:xfrm>
          <a:prstGeom prst="rect">
            <a:avLst/>
          </a:prstGeom>
          <a:solidFill>
            <a:srgbClr val="D6DBD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Calibri"/>
              </a:rPr>
              <a:t>FID / TBT</a:t>
            </a:r>
          </a:p>
        </p:txBody>
      </p:sp>
      <p:sp>
        <p:nvSpPr>
          <p:cNvPr id="209" name="fid_good"/>
          <p:cNvSpPr/>
          <p:nvPr/>
        </p:nvSpPr>
        <p:spPr>
          <a:xfrm>
            <a:off x="2103120" y="4114400"/>
            <a:ext cx="2346960" cy="457200"/>
          </a:xfrm>
          <a:prstGeom prst="rect">
            <a:avLst/>
          </a:prstGeom>
          <a:solidFill>
            <a:srgbClr val="D5F5E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Calibri"/>
              </a:rPr>
              <a:t>below 100ms</a:t>
            </a:r>
          </a:p>
        </p:txBody>
      </p:sp>
      <p:sp>
        <p:nvSpPr>
          <p:cNvPr id="210" name="fid_needs"/>
          <p:cNvSpPr/>
          <p:nvPr/>
        </p:nvSpPr>
        <p:spPr>
          <a:xfrm>
            <a:off x="4450080" y="4114400"/>
            <a:ext cx="2346960" cy="457200"/>
          </a:xfrm>
          <a:prstGeom prst="rect">
            <a:avLst/>
          </a:prstGeom>
          <a:solidFill>
            <a:srgbClr val="FDEBD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784212"/>
                </a:solidFill>
                <a:latin typeface="Calibri"/>
              </a:rPr>
              <a:t>100ms - 300ms</a:t>
            </a:r>
          </a:p>
        </p:txBody>
      </p:sp>
      <p:sp>
        <p:nvSpPr>
          <p:cNvPr id="211" name="fid_poor"/>
          <p:cNvSpPr/>
          <p:nvPr/>
        </p:nvSpPr>
        <p:spPr>
          <a:xfrm>
            <a:off x="6797040" y="4114400"/>
            <a:ext cx="2346960" cy="457200"/>
          </a:xfrm>
          <a:prstGeom prst="rect">
            <a:avLst/>
          </a:prstGeom>
          <a:solidFill>
            <a:srgbClr val="FADBD8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7B241C"/>
                </a:solidFill>
                <a:latin typeface="Calibri"/>
              </a:rPr>
              <a:t>above 300ms</a:t>
            </a:r>
          </a:p>
        </p:txBody>
      </p:sp>
      <p:sp>
        <p:nvSpPr>
          <p:cNvPr id="212" name="cls_label"/>
          <p:cNvSpPr/>
          <p:nvPr/>
        </p:nvSpPr>
        <p:spPr>
          <a:xfrm>
            <a:off x="274320" y="4571600"/>
            <a:ext cx="1828800" cy="45720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Calibri"/>
              </a:rPr>
              <a:t>CLS</a:t>
            </a:r>
          </a:p>
        </p:txBody>
      </p:sp>
      <p:sp>
        <p:nvSpPr>
          <p:cNvPr id="213" name="cls_good"/>
          <p:cNvSpPr/>
          <p:nvPr/>
        </p:nvSpPr>
        <p:spPr>
          <a:xfrm>
            <a:off x="2103120" y="4571600"/>
            <a:ext cx="2346960" cy="457200"/>
          </a:xfrm>
          <a:prstGeom prst="rect">
            <a:avLst/>
          </a:prstGeom>
          <a:solidFill>
            <a:srgbClr val="D5F5E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Calibri"/>
              </a:rPr>
              <a:t>below 0.1</a:t>
            </a:r>
          </a:p>
        </p:txBody>
      </p:sp>
      <p:sp>
        <p:nvSpPr>
          <p:cNvPr id="214" name="cls_needs"/>
          <p:cNvSpPr/>
          <p:nvPr/>
        </p:nvSpPr>
        <p:spPr>
          <a:xfrm>
            <a:off x="4450080" y="4571600"/>
            <a:ext cx="2346960" cy="457200"/>
          </a:xfrm>
          <a:prstGeom prst="rect">
            <a:avLst/>
          </a:prstGeom>
          <a:solidFill>
            <a:srgbClr val="FDEBD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784212"/>
                </a:solidFill>
                <a:latin typeface="Calibri"/>
              </a:rPr>
              <a:t>0.1 - 0.25</a:t>
            </a:r>
          </a:p>
        </p:txBody>
      </p:sp>
      <p:sp>
        <p:nvSpPr>
          <p:cNvPr id="215" name="cls_poor"/>
          <p:cNvSpPr/>
          <p:nvPr/>
        </p:nvSpPr>
        <p:spPr>
          <a:xfrm>
            <a:off x="6797040" y="4571600"/>
            <a:ext cx="2346960" cy="457200"/>
          </a:xfrm>
          <a:prstGeom prst="rect">
            <a:avLst/>
          </a:prstGeom>
          <a:solidFill>
            <a:srgbClr val="FADBD8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b="1" dirty="0">
                <a:solidFill>
                  <a:srgbClr val="7B241C"/>
                </a:solidFill>
                <a:latin typeface="Calibri"/>
              </a:rPr>
              <a:t>above 0.25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Akamai (2017): 100ms load delay causes 7% drop in conversions; Amazon found 1% sales loss per 100ms latency.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Gavrilov et al. (2021): React has higher TTI on low-end Android devices due to virtual DOM hydration cost.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Preact created by Jason Miller (2015); Kuhn and Schafer (2022): Preact 75-80% faster initial load on 3G vs React.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Svelte created by Rich Harris (2016), version 3 in 2019; compiles at build time instead of shipping runtime.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 Framework Benchmark (krausest, 2023): Svelte consistently fastest and lightest for DOM manipulation.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focus on micro-benchmarks -- isolated rendering speed, not holistic Core Web Vitals.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study fills the methodological gap with application-level experimental design using Core Web Vitals.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Identical SPA built in React 18.2, Preact 10.19, and Svelte 4.2 -- same CSS, images, and mock API.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includes: responsive nav, banner image, data cards from REST endpoint, dynamic form, and footer.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with Vite 5.0 (minification, tree-shaking, code splitting); deployed to Vercel CDN, same region.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Google Lighthouse v11 (headless Chromium), Chrome DevTools Performance panel, PageSpeed Insights API.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conditions: 4x CPU throttle, Fast 4G network (40/10 Mbps, 40ms RTT), 1350x940px viewport.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runs per framework; median reported. Standard deviation under 8% in all cases.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captured: LCP, TBT, CLS, FCP, TTI, Speed Index, Lighthouse Score, JS bundle size (KB).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Core Web Vitals and Bundle Size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LCP (s)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TBT (ms)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Bundle (KB)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React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</a:rPr>
                        <a:t>2.9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</a:rPr>
                        <a:t>320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0.06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</a:rPr>
                        <a:t>180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Preact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2.1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180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Svelte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1.9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140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0.04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38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Chart 0"/>
          <p:cNvGraphicFramePr/>
          <p:nvPr/>
        </p:nvGraphicFramePr>
        <p:xfrm>
          <a:off x="274320" y="310896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572000" y="310896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Supplementary Metrics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React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Preact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Svelte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TTI (s)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</a:rPr>
                        <a:t>4.2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</a:rPr>
                        <a:t>2.8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2.4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FCP (s)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</a:rPr>
                        <a:t>1.8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</a:rPr>
                        <a:t>1.2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1.0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Speed Index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</a:rPr>
                        <a:t>3.6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</a:rPr>
                        <a:t>2.3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2.1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Lighthouse Score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</a:rPr>
                        <a:t>62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</a:rPr>
                        <a:t>84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91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Chart 0"/>
          <p:cNvGraphicFramePr/>
          <p:nvPr/>
        </p:nvGraphicFramePr>
        <p:xfrm>
          <a:off x="274320" y="356616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486400" y="3566160"/>
          <a:ext cx="3383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Discussion: Performance vs. Complexity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ranking: Svelte &gt; Preact &gt; React -- directly correlated with bundle size.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Svelte compile-time approach eliminates virtual DOM diffing overhead entirely.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ecosystem advantages: Next.js, Redux, TanStack Query, larger talent pool, mature documentation.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enterprise apps with dozens of engineers, React's ecosystem value may outweigh the performance gap.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optimizations (lazy loading, code splitting, server components) can close the gap significantly.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frameworks strongly recommended for content-focused, performance-critical websites.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choice must balance performance needs, project complexity, and long-term maintainability.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 and Business Impact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added Core Web Vitals to Page Experience ranking signal in 2021.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React's LCP of 2.9s is close to the Good threshold but may drift on slower devices and networks.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Core Web Vitals scores can lead to organic search ranking penalties.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e-commerce and content sites, each ranking position has direct revenue impact.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frameworks can provide SEO ranking advantage by meeting all Good thresholds.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Preact migration path: preact/compat layer allows most React components to run unmodified.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Preact vs React: 27% LCP improvement and 44% TBT reduction with minimal refactoring.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tests a single representative app under desktop conditions -- may not reflect full diversity of use cases.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deployment platform (Vercel) constrains external validity.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Mobile emulation with higher CPU throttling profiles.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Server-side rendering and static site generation configurations for each framework.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Varying application complexity -- from simple landing pages to data-intensive dashboards.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Field data from real-user deployments (CrUX data at scale).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Include emerging frameworks -- SolidJS and Qwik with new reactivity/resumability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 comparison of React 18, Preact 10, and Svelte 4 using standardized Lighthouse audits.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frameworks deliver statistically significant improvements in LCP, TBT, TTI, and Lighthouse Score.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Svelte: 38 KB bundle, LCP 1.9s, TBT 140ms, Lighthouse 91 -- meets Good threshold across all Core Web Vitals.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Preact: strong performance and viable migration path for existing React codebases.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remains valuable for its ecosystem depth, developer experience, and enterprise-grade tooling.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use lightweight frameworks for content-focused, performance-critical sites.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complex long-lived apps: invest in React optimization (lazy loading, code splitting, server components).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Core Web Vitals Documentation, Google Developers, web.dev, 2021.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React Official Documentation, react.dev, 2023.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Preact Documentation, J. Miller, preactjs.com, 2023.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Svelte Documentation, R. Harris, svelte.dev, 2023.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P. Gavrilov et al., JavaScript Framework Performance on Mobile Devices, IEEE ICWS, 2022, pp. 234-241.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State of Online Retail Performance, Akamai Technologies, 2017.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S. Souders, High Performance Web Sites, O'Reilly, 2007.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1228</Words>
  <Application>Microsoft Office PowerPoint</Application>
  <PresentationFormat>On-screen Show (4:3)</PresentationFormat>
  <Paragraphs>161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Aditya Sharma</cp:lastModifiedBy>
  <cp:revision>2299</cp:revision>
  <dcterms:created xsi:type="dcterms:W3CDTF">2010-04-09T07:36:15Z</dcterms:created>
  <dcterms:modified xsi:type="dcterms:W3CDTF">2026-05-14T08:04:04Z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